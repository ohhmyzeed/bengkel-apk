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60" y="-304"/>
      </p:cViewPr>
      <p:guideLst>
        <p:guide orient="horz" pos="2160"/>
        <p:guide pos="31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5106c7461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5106c7461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Model Canvas">
  <p:cSld name="Business Model Canva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309424" y="1066799"/>
            <a:ext cx="1754326" cy="34287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2"/>
          </p:nvPr>
        </p:nvSpPr>
        <p:spPr>
          <a:xfrm>
            <a:off x="2185335" y="1066800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3"/>
          </p:nvPr>
        </p:nvSpPr>
        <p:spPr>
          <a:xfrm>
            <a:off x="4067689" y="1066800"/>
            <a:ext cx="1754326" cy="34287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4"/>
          </p:nvPr>
        </p:nvSpPr>
        <p:spPr>
          <a:xfrm>
            <a:off x="5948526" y="1056067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5"/>
          </p:nvPr>
        </p:nvSpPr>
        <p:spPr>
          <a:xfrm>
            <a:off x="7835806" y="1056066"/>
            <a:ext cx="1754326" cy="34394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6"/>
          </p:nvPr>
        </p:nvSpPr>
        <p:spPr>
          <a:xfrm>
            <a:off x="2196704" y="2965800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7"/>
          </p:nvPr>
        </p:nvSpPr>
        <p:spPr>
          <a:xfrm>
            <a:off x="5952078" y="2965800"/>
            <a:ext cx="1754326" cy="1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8"/>
          </p:nvPr>
        </p:nvSpPr>
        <p:spPr>
          <a:xfrm>
            <a:off x="309424" y="4876800"/>
            <a:ext cx="4561026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9"/>
          </p:nvPr>
        </p:nvSpPr>
        <p:spPr>
          <a:xfrm>
            <a:off x="5056350" y="4876800"/>
            <a:ext cx="4533783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13"/>
          </p:nvPr>
        </p:nvSpPr>
        <p:spPr>
          <a:xfrm>
            <a:off x="3962400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14"/>
          </p:nvPr>
        </p:nvSpPr>
        <p:spPr>
          <a:xfrm>
            <a:off x="5685201" y="381000"/>
            <a:ext cx="14033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5"/>
          </p:nvPr>
        </p:nvSpPr>
        <p:spPr>
          <a:xfrm>
            <a:off x="7759700" y="381000"/>
            <a:ext cx="11557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6"/>
          </p:nvPr>
        </p:nvSpPr>
        <p:spPr>
          <a:xfrm>
            <a:off x="9245600" y="381000"/>
            <a:ext cx="41275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/>
          <p:nvPr/>
        </p:nvSpPr>
        <p:spPr>
          <a:xfrm>
            <a:off x="244475" y="762000"/>
            <a:ext cx="9405938" cy="563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3"/>
          <p:cNvSpPr txBox="1"/>
          <p:nvPr/>
        </p:nvSpPr>
        <p:spPr>
          <a:xfrm>
            <a:off x="247650" y="304800"/>
            <a:ext cx="2571750" cy="33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Business Model Canvas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Google Shape;8;p3"/>
          <p:cNvSpPr txBox="1"/>
          <p:nvPr/>
        </p:nvSpPr>
        <p:spPr>
          <a:xfrm>
            <a:off x="3860800" y="184150"/>
            <a:ext cx="1403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7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Designed for: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Google Shape;9;p3"/>
          <p:cNvSpPr txBox="1"/>
          <p:nvPr/>
        </p:nvSpPr>
        <p:spPr>
          <a:xfrm>
            <a:off x="5586413" y="180975"/>
            <a:ext cx="14033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7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Designed by: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10;p3"/>
          <p:cNvSpPr txBox="1"/>
          <p:nvPr/>
        </p:nvSpPr>
        <p:spPr>
          <a:xfrm>
            <a:off x="7664450" y="180975"/>
            <a:ext cx="1214438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7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3"/>
          <p:cNvSpPr txBox="1"/>
          <p:nvPr/>
        </p:nvSpPr>
        <p:spPr>
          <a:xfrm>
            <a:off x="9142413" y="180975"/>
            <a:ext cx="6207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 panose="020B0604020202020204"/>
              <a:buNone/>
            </a:pPr>
            <a:r>
              <a:rPr lang="en-GB" sz="700" b="0" i="1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Version: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3"/>
          <p:cNvSpPr txBox="1"/>
          <p:nvPr/>
        </p:nvSpPr>
        <p:spPr>
          <a:xfrm>
            <a:off x="244475" y="788988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Partners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244475" y="4572000"/>
            <a:ext cx="1749425" cy="24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Cost Structure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2124075" y="788988"/>
            <a:ext cx="1751013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Activities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2124075" y="2649538"/>
            <a:ext cx="1751013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Key Resources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4025900" y="788988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Value Propositions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919788" y="782638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Customer Relationships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919788" y="2643188"/>
            <a:ext cx="174942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Channels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818438" y="788988"/>
            <a:ext cx="1749425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Customer Segments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4973638" y="4572000"/>
            <a:ext cx="1749425" cy="24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Revenue Streams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44475" y="762000"/>
            <a:ext cx="1879600" cy="381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124075" y="760413"/>
            <a:ext cx="1881188" cy="18827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124075" y="2643188"/>
            <a:ext cx="1881188" cy="19288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005263" y="762000"/>
            <a:ext cx="1879600" cy="381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884863" y="762000"/>
            <a:ext cx="1879600" cy="18827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884863" y="2643188"/>
            <a:ext cx="1879600" cy="19288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770813" y="762000"/>
            <a:ext cx="1881187" cy="381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44475" y="4579938"/>
            <a:ext cx="4713288" cy="18208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957763" y="4579938"/>
            <a:ext cx="4692650" cy="18208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20200" y="706438"/>
            <a:ext cx="360363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278438" y="711200"/>
            <a:ext cx="360362" cy="36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467600" y="706438"/>
            <a:ext cx="360363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6"/>
          <a:srcRect l="11171"/>
          <a:stretch>
            <a:fillRect/>
          </a:stretch>
        </p:blipFill>
        <p:spPr>
          <a:xfrm>
            <a:off x="6269038" y="4495800"/>
            <a:ext cx="360362" cy="36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3048000" y="706438"/>
            <a:ext cx="360363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143000" y="706438"/>
            <a:ext cx="360363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9"/>
          <a:srcRect t="8023" r="6838"/>
          <a:stretch>
            <a:fillRect/>
          </a:stretch>
        </p:blipFill>
        <p:spPr>
          <a:xfrm>
            <a:off x="1316038" y="4495800"/>
            <a:ext cx="360362" cy="36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726238" y="2590800"/>
            <a:ext cx="360362" cy="36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1"/>
          <a:srcRect b="6727"/>
          <a:stretch>
            <a:fillRect/>
          </a:stretch>
        </p:blipFill>
        <p:spPr>
          <a:xfrm>
            <a:off x="3200400" y="2590800"/>
            <a:ext cx="360363" cy="3603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06c74611_2_0"/>
          <p:cNvSpPr txBox="1">
            <a:spLocks noGrp="1"/>
          </p:cNvSpPr>
          <p:nvPr>
            <p:ph type="body" idx="1"/>
          </p:nvPr>
        </p:nvSpPr>
        <p:spPr>
          <a:xfrm>
            <a:off x="309424" y="1066799"/>
            <a:ext cx="1754400" cy="3428700"/>
          </a:xfrm>
          <a:prstGeom prst="rect">
            <a:avLst/>
          </a:prstGeom>
          <a:solidFill>
            <a:srgbClr val="E0EFD0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Font typeface="+mj-lt"/>
              <a:buAutoNum type="arabicPeriod"/>
            </a:pPr>
            <a:r>
              <a:rPr lang="en-US" altLang="en-US" dirty="0" err="1"/>
              <a:t>Bengkel</a:t>
            </a:r>
            <a:r>
              <a:rPr lang="en-US" altLang="en-US" dirty="0"/>
              <a:t> </a:t>
            </a:r>
            <a:r>
              <a:rPr lang="en-US" altLang="en-US" dirty="0" err="1"/>
              <a:t>mitra</a:t>
            </a:r>
            <a:r>
              <a:rPr lang="en-US" altLang="en-US" dirty="0"/>
              <a:t> (</a:t>
            </a:r>
            <a:r>
              <a:rPr lang="en-US" altLang="en-US" dirty="0" err="1"/>
              <a:t>bengkel</a:t>
            </a:r>
            <a:r>
              <a:rPr lang="en-US" altLang="en-US" dirty="0"/>
              <a:t> </a:t>
            </a:r>
            <a:r>
              <a:rPr lang="en-US" altLang="en-US" dirty="0" err="1"/>
              <a:t>rekanan</a:t>
            </a:r>
            <a:r>
              <a:rPr lang="en-US" altLang="en-US" dirty="0"/>
              <a:t> di </a:t>
            </a:r>
            <a:r>
              <a:rPr lang="en-US" altLang="en-US" dirty="0" err="1"/>
              <a:t>berbagai</a:t>
            </a:r>
            <a:r>
              <a:rPr lang="en-US" altLang="en-US" dirty="0"/>
              <a:t> wilayah)</a:t>
            </a:r>
          </a:p>
          <a:p>
            <a:pPr marL="228600" lvl="0" algn="just">
              <a:buFont typeface="+mj-lt"/>
              <a:buAutoNum type="arabicPeriod"/>
            </a:pPr>
            <a:r>
              <a:rPr lang="en-US" altLang="en-US" dirty="0" err="1"/>
              <a:t>Penyedia</a:t>
            </a:r>
            <a:r>
              <a:rPr lang="en-US" altLang="en-US" dirty="0"/>
              <a:t> </a:t>
            </a:r>
            <a:r>
              <a:rPr lang="en-US" altLang="en-US" dirty="0" err="1"/>
              <a:t>suku</a:t>
            </a:r>
            <a:r>
              <a:rPr lang="en-US" altLang="en-US" dirty="0"/>
              <a:t> </a:t>
            </a:r>
            <a:r>
              <a:rPr lang="en-US" altLang="en-US" dirty="0" err="1"/>
              <a:t>cadang</a:t>
            </a:r>
            <a:r>
              <a:rPr lang="en-US" altLang="en-US" dirty="0"/>
              <a:t> dan </a:t>
            </a:r>
            <a:r>
              <a:rPr lang="en-US" altLang="en-US" dirty="0" err="1"/>
              <a:t>sparepart</a:t>
            </a:r>
            <a:r>
              <a:rPr lang="en-US" altLang="en-US" dirty="0"/>
              <a:t> motor</a:t>
            </a:r>
          </a:p>
          <a:p>
            <a:pPr marL="228600" lvl="0" algn="just">
              <a:buFont typeface="+mj-lt"/>
              <a:buAutoNum type="arabicPeriod"/>
            </a:pPr>
            <a:r>
              <a:rPr lang="en-US" altLang="en-US" dirty="0" err="1"/>
              <a:t>Penyedia</a:t>
            </a:r>
            <a:r>
              <a:rPr lang="en-US" altLang="en-US" dirty="0"/>
              <a:t> </a:t>
            </a:r>
            <a:r>
              <a:rPr lang="en-US" altLang="en-US" dirty="0" err="1"/>
              <a:t>layanan</a:t>
            </a:r>
            <a:r>
              <a:rPr lang="en-US" altLang="en-US" dirty="0"/>
              <a:t> </a:t>
            </a:r>
            <a:r>
              <a:rPr lang="en-US" altLang="en-US" dirty="0" err="1"/>
              <a:t>pembayaran</a:t>
            </a:r>
            <a:r>
              <a:rPr lang="en-US" altLang="en-US" dirty="0"/>
              <a:t> digital (e-wallet, bank)</a:t>
            </a:r>
          </a:p>
          <a:p>
            <a:pPr marL="228600" lvl="0" algn="just">
              <a:buFont typeface="+mj-lt"/>
              <a:buAutoNum type="arabicPeriod"/>
            </a:pPr>
            <a:r>
              <a:rPr lang="en-US" altLang="en-US" dirty="0"/>
              <a:t>Platform cloud hosting / server</a:t>
            </a:r>
          </a:p>
          <a:p>
            <a:pPr marL="228600" lvl="0" algn="just">
              <a:buFont typeface="+mj-lt"/>
              <a:buAutoNum type="arabicPeriod"/>
            </a:pPr>
            <a:r>
              <a:rPr lang="en-US" altLang="en-US" dirty="0" err="1"/>
              <a:t>Komunitas</a:t>
            </a:r>
            <a:r>
              <a:rPr lang="en-US" altLang="en-US" dirty="0"/>
              <a:t> </a:t>
            </a:r>
            <a:r>
              <a:rPr lang="en-US" altLang="en-US" dirty="0" err="1"/>
              <a:t>otomotif</a:t>
            </a:r>
            <a:r>
              <a:rPr lang="en-US" altLang="en-US" dirty="0"/>
              <a:t> lokal6. Influencer </a:t>
            </a:r>
            <a:r>
              <a:rPr lang="en-US" altLang="en-US" dirty="0" err="1"/>
              <a:t>otomotif</a:t>
            </a:r>
            <a:r>
              <a:rPr lang="en-US" altLang="en-US" dirty="0"/>
              <a:t> / media </a:t>
            </a:r>
            <a:r>
              <a:rPr lang="en-US" altLang="en-US" dirty="0" err="1"/>
              <a:t>promosi</a:t>
            </a:r>
            <a:r>
              <a:rPr lang="en-US" altLang="en-US" dirty="0"/>
              <a:t> online</a:t>
            </a:r>
          </a:p>
        </p:txBody>
      </p:sp>
      <p:sp>
        <p:nvSpPr>
          <p:cNvPr id="58" name="Google Shape;58;g25106c74611_2_0"/>
          <p:cNvSpPr txBox="1">
            <a:spLocks noGrp="1"/>
          </p:cNvSpPr>
          <p:nvPr>
            <p:ph type="body" idx="2"/>
          </p:nvPr>
        </p:nvSpPr>
        <p:spPr>
          <a:xfrm>
            <a:off x="2183300" y="1054800"/>
            <a:ext cx="1754400" cy="1530000"/>
          </a:xfrm>
          <a:prstGeom prst="rect">
            <a:avLst/>
          </a:prstGeom>
          <a:solidFill>
            <a:srgbClr val="AEE4F6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>
              <a:buFont typeface="+mj-lt"/>
              <a:buAutoNum type="arabicPeriod"/>
            </a:pPr>
            <a:r>
              <a:rPr lang="en-US" altLang="en-US" sz="700" dirty="0" err="1"/>
              <a:t>Pengembangan</a:t>
            </a:r>
            <a:r>
              <a:rPr lang="en-US" altLang="en-US" sz="700" dirty="0"/>
              <a:t> &amp; </a:t>
            </a:r>
            <a:r>
              <a:rPr lang="en-US" altLang="en-US" sz="700" dirty="0" err="1"/>
              <a:t>pemeliharaan</a:t>
            </a:r>
            <a:r>
              <a:rPr lang="en-US" altLang="en-US" sz="700" dirty="0"/>
              <a:t> website </a:t>
            </a:r>
            <a:r>
              <a:rPr lang="en-US" altLang="en-US" sz="700" dirty="0" err="1"/>
              <a:t>bengkel</a:t>
            </a:r>
            <a:r>
              <a:rPr lang="en-US" altLang="en-US" sz="700" dirty="0"/>
              <a:t> (frontend, backend, database)</a:t>
            </a:r>
          </a:p>
          <a:p>
            <a:pPr marL="228600" lvl="0">
              <a:buFont typeface="+mj-lt"/>
              <a:buAutoNum type="arabicPeriod"/>
            </a:pPr>
            <a:r>
              <a:rPr lang="en-US" altLang="en-US" sz="700" dirty="0" err="1"/>
              <a:t>Manajemen</a:t>
            </a:r>
            <a:r>
              <a:rPr lang="en-US" altLang="en-US" sz="700" dirty="0"/>
              <a:t> data </a:t>
            </a:r>
            <a:r>
              <a:rPr lang="en-US" altLang="en-US" sz="700" dirty="0" err="1"/>
              <a:t>bengkel</a:t>
            </a:r>
            <a:r>
              <a:rPr lang="en-US" altLang="en-US" sz="700" dirty="0"/>
              <a:t> </a:t>
            </a:r>
            <a:r>
              <a:rPr lang="en-US" altLang="en-US" sz="700" dirty="0" err="1"/>
              <a:t>mitra</a:t>
            </a:r>
            <a:r>
              <a:rPr lang="en-US" altLang="en-US" sz="700" dirty="0"/>
              <a:t> dan </a:t>
            </a:r>
            <a:r>
              <a:rPr lang="en-US" altLang="en-US" sz="700" dirty="0" err="1"/>
              <a:t>pelanggan</a:t>
            </a:r>
            <a:endParaRPr lang="en-US" altLang="en-US" sz="700" dirty="0"/>
          </a:p>
          <a:p>
            <a:pPr marL="228600" lvl="0">
              <a:buFont typeface="+mj-lt"/>
              <a:buAutoNum type="arabicPeriod"/>
            </a:pPr>
            <a:r>
              <a:rPr lang="en-US" altLang="en-US" sz="700" dirty="0" err="1"/>
              <a:t>Pengelolaan</a:t>
            </a:r>
            <a:r>
              <a:rPr lang="en-US" altLang="en-US" sz="700" dirty="0"/>
              <a:t> </a:t>
            </a:r>
            <a:r>
              <a:rPr lang="en-US" altLang="en-US" sz="700" dirty="0" err="1"/>
              <a:t>sistem</a:t>
            </a:r>
            <a:r>
              <a:rPr lang="en-US" altLang="en-US" sz="700" dirty="0"/>
              <a:t> </a:t>
            </a:r>
            <a:r>
              <a:rPr lang="en-US" altLang="en-US" sz="700" dirty="0" err="1"/>
              <a:t>reservasi</a:t>
            </a:r>
            <a:r>
              <a:rPr lang="en-US" altLang="en-US" sz="700" dirty="0"/>
              <a:t> &amp; </a:t>
            </a:r>
            <a:r>
              <a:rPr lang="en-US" altLang="en-US" sz="700" dirty="0" err="1"/>
              <a:t>notifikasi</a:t>
            </a:r>
            <a:r>
              <a:rPr lang="en-US" altLang="en-US" sz="700" dirty="0"/>
              <a:t> </a:t>
            </a:r>
            <a:r>
              <a:rPr lang="en-US" altLang="en-US" sz="700" dirty="0" err="1"/>
              <a:t>jadwal</a:t>
            </a:r>
            <a:r>
              <a:rPr lang="en-US" altLang="en-US" sz="700" dirty="0"/>
              <a:t> service</a:t>
            </a:r>
          </a:p>
          <a:p>
            <a:pPr marL="228600" lvl="0">
              <a:buFont typeface="+mj-lt"/>
              <a:buAutoNum type="arabicPeriod"/>
            </a:pPr>
            <a:r>
              <a:rPr lang="en-US" altLang="en-US" sz="700" dirty="0" err="1"/>
              <a:t>Promosi</a:t>
            </a:r>
            <a:r>
              <a:rPr lang="en-US" altLang="en-US" sz="700" dirty="0"/>
              <a:t> </a:t>
            </a:r>
            <a:r>
              <a:rPr lang="en-US" altLang="en-US" sz="700" dirty="0" err="1"/>
              <a:t>layanan</a:t>
            </a:r>
            <a:r>
              <a:rPr lang="en-US" altLang="en-US" sz="700" dirty="0"/>
              <a:t> </a:t>
            </a:r>
            <a:r>
              <a:rPr lang="en-US" altLang="en-US" sz="700" dirty="0" err="1"/>
              <a:t>melalui</a:t>
            </a:r>
            <a:r>
              <a:rPr lang="en-US" altLang="en-US" sz="700" dirty="0"/>
              <a:t> media </a:t>
            </a:r>
            <a:r>
              <a:rPr lang="en-US" altLang="en-US" sz="700" dirty="0" err="1"/>
              <a:t>sosial</a:t>
            </a:r>
            <a:r>
              <a:rPr lang="en-US" altLang="en-US" sz="700" dirty="0"/>
              <a:t> &amp; </a:t>
            </a:r>
            <a:r>
              <a:rPr lang="en-US" altLang="en-US" sz="700" dirty="0" err="1"/>
              <a:t>iklan</a:t>
            </a:r>
            <a:r>
              <a:rPr lang="en-US" altLang="en-US" sz="700" dirty="0"/>
              <a:t> digital</a:t>
            </a:r>
          </a:p>
          <a:p>
            <a:pPr marL="228600" lvl="0">
              <a:buFont typeface="+mj-lt"/>
              <a:buAutoNum type="arabicPeriod"/>
            </a:pPr>
            <a:r>
              <a:rPr lang="en-US" altLang="en-US" sz="700" dirty="0" err="1"/>
              <a:t>Pengelolaan</a:t>
            </a:r>
            <a:r>
              <a:rPr lang="en-US" altLang="en-US" sz="700" dirty="0"/>
              <a:t> </a:t>
            </a:r>
            <a:r>
              <a:rPr lang="en-US" altLang="en-US" sz="700" dirty="0" err="1"/>
              <a:t>transaksi</a:t>
            </a:r>
            <a:r>
              <a:rPr lang="en-US" altLang="en-US" sz="700" dirty="0"/>
              <a:t> dan </a:t>
            </a:r>
            <a:r>
              <a:rPr lang="en-US" altLang="en-US" sz="700" dirty="0" err="1"/>
              <a:t>konfirmasi</a:t>
            </a:r>
            <a:r>
              <a:rPr lang="en-US" altLang="en-US" sz="700" dirty="0"/>
              <a:t> </a:t>
            </a:r>
            <a:r>
              <a:rPr lang="en-US" altLang="en-US" sz="700" dirty="0" err="1"/>
              <a:t>pembayaran</a:t>
            </a:r>
            <a:r>
              <a:rPr lang="en-US" altLang="en-US" sz="700" dirty="0"/>
              <a:t> online6. </a:t>
            </a:r>
            <a:r>
              <a:rPr lang="en-US" altLang="en-US" sz="700" dirty="0" err="1"/>
              <a:t>Penyusunan</a:t>
            </a:r>
            <a:r>
              <a:rPr lang="en-US" altLang="en-US" sz="700" dirty="0"/>
              <a:t> </a:t>
            </a:r>
            <a:r>
              <a:rPr lang="en-US" altLang="en-US" sz="700" dirty="0" err="1"/>
              <a:t>laporan</a:t>
            </a:r>
            <a:r>
              <a:rPr lang="en-US" altLang="en-US" sz="700" dirty="0"/>
              <a:t> </a:t>
            </a:r>
            <a:r>
              <a:rPr lang="en-US" altLang="en-US" sz="700" dirty="0" err="1"/>
              <a:t>transaksi</a:t>
            </a:r>
            <a:r>
              <a:rPr lang="en-US" altLang="en-US" sz="700" dirty="0"/>
              <a:t> dan </a:t>
            </a:r>
            <a:r>
              <a:rPr lang="en-US" altLang="en-US" sz="700" dirty="0" err="1"/>
              <a:t>kinerja</a:t>
            </a:r>
            <a:r>
              <a:rPr lang="en-US" altLang="en-US" sz="700" dirty="0"/>
              <a:t> </a:t>
            </a:r>
            <a:r>
              <a:rPr lang="en-US" altLang="en-US" sz="700" dirty="0" err="1"/>
              <a:t>bengkel</a:t>
            </a:r>
            <a:endParaRPr lang="en-US" altLang="en-US" sz="700" dirty="0"/>
          </a:p>
        </p:txBody>
      </p:sp>
      <p:sp>
        <p:nvSpPr>
          <p:cNvPr id="59" name="Google Shape;59;g25106c74611_2_0"/>
          <p:cNvSpPr txBox="1">
            <a:spLocks noGrp="1"/>
          </p:cNvSpPr>
          <p:nvPr>
            <p:ph type="body" idx="3"/>
          </p:nvPr>
        </p:nvSpPr>
        <p:spPr>
          <a:xfrm>
            <a:off x="4067689" y="1066800"/>
            <a:ext cx="1754400" cy="3428700"/>
          </a:xfrm>
          <a:prstGeom prst="rect">
            <a:avLst/>
          </a:prstGeom>
          <a:solidFill>
            <a:srgbClr val="FBF1D5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AutoNum type="arabicPeriod"/>
            </a:pPr>
            <a:r>
              <a:rPr lang="en-US" altLang="en-US" dirty="0" err="1"/>
              <a:t>Mempermudah</a:t>
            </a:r>
            <a:r>
              <a:rPr lang="en-US" altLang="en-US" dirty="0"/>
              <a:t> </a:t>
            </a:r>
            <a:r>
              <a:rPr lang="en-US" altLang="en-US" dirty="0" err="1"/>
              <a:t>pelanggan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melakukan</a:t>
            </a:r>
            <a:r>
              <a:rPr lang="en-US" altLang="en-US" dirty="0"/>
              <a:t> </a:t>
            </a:r>
            <a:r>
              <a:rPr lang="en-US" altLang="en-US" dirty="0" err="1"/>
              <a:t>reservasi</a:t>
            </a:r>
            <a:r>
              <a:rPr lang="en-US" altLang="en-US" dirty="0"/>
              <a:t> </a:t>
            </a:r>
            <a:r>
              <a:rPr lang="en-US" altLang="en-US" dirty="0" err="1"/>
              <a:t>servis</a:t>
            </a:r>
            <a:r>
              <a:rPr lang="en-US" altLang="en-US" dirty="0"/>
              <a:t> motor </a:t>
            </a:r>
            <a:r>
              <a:rPr lang="en-US" altLang="en-US" dirty="0" err="1"/>
              <a:t>secara</a:t>
            </a:r>
            <a:r>
              <a:rPr lang="en-US" altLang="en-US" dirty="0"/>
              <a:t> online </a:t>
            </a:r>
            <a:r>
              <a:rPr lang="en-US" altLang="en-US" dirty="0" err="1"/>
              <a:t>tanpa</a:t>
            </a:r>
            <a:r>
              <a:rPr lang="en-US" altLang="en-US" dirty="0"/>
              <a:t> antre.</a:t>
            </a:r>
          </a:p>
          <a:p>
            <a:pPr marL="228600" lvl="0" algn="just">
              <a:buAutoNum type="arabicPeriod"/>
            </a:pPr>
            <a:r>
              <a:rPr lang="en-US" altLang="en-US" dirty="0" err="1"/>
              <a:t>Menyediakan</a:t>
            </a:r>
            <a:r>
              <a:rPr lang="en-US" altLang="en-US" dirty="0"/>
              <a:t> </a:t>
            </a:r>
            <a:r>
              <a:rPr lang="en-US" altLang="en-US" dirty="0" err="1"/>
              <a:t>informasi</a:t>
            </a:r>
            <a:r>
              <a:rPr lang="en-US" altLang="en-US" dirty="0"/>
              <a:t> </a:t>
            </a:r>
            <a:r>
              <a:rPr lang="en-US" altLang="en-US" dirty="0" err="1"/>
              <a:t>lengkap</a:t>
            </a:r>
            <a:r>
              <a:rPr lang="en-US" altLang="en-US" dirty="0"/>
              <a:t> </a:t>
            </a:r>
            <a:r>
              <a:rPr lang="en-US" altLang="en-US" dirty="0" err="1"/>
              <a:t>tentang</a:t>
            </a:r>
            <a:r>
              <a:rPr lang="en-US" altLang="en-US" dirty="0"/>
              <a:t> </a:t>
            </a:r>
            <a:r>
              <a:rPr lang="en-US" altLang="en-US" dirty="0" err="1"/>
              <a:t>layanan</a:t>
            </a:r>
            <a:r>
              <a:rPr lang="en-US" altLang="en-US" dirty="0"/>
              <a:t>, </a:t>
            </a:r>
            <a:r>
              <a:rPr lang="en-US" altLang="en-US" dirty="0" err="1"/>
              <a:t>harga</a:t>
            </a:r>
            <a:r>
              <a:rPr lang="en-US" altLang="en-US" dirty="0"/>
              <a:t>, dan </a:t>
            </a:r>
            <a:r>
              <a:rPr lang="en-US" altLang="en-US" dirty="0" err="1"/>
              <a:t>lokasi</a:t>
            </a:r>
            <a:r>
              <a:rPr lang="en-US" altLang="en-US" dirty="0"/>
              <a:t> </a:t>
            </a:r>
            <a:r>
              <a:rPr lang="en-US" altLang="en-US" dirty="0" err="1"/>
              <a:t>bengkel</a:t>
            </a:r>
            <a:r>
              <a:rPr lang="en-US" altLang="en-US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dirty="0" err="1"/>
              <a:t>Membantu</a:t>
            </a:r>
            <a:r>
              <a:rPr lang="en-US" altLang="en-US" dirty="0"/>
              <a:t> </a:t>
            </a:r>
            <a:r>
              <a:rPr lang="en-US" altLang="en-US" dirty="0" err="1"/>
              <a:t>bengkel</a:t>
            </a:r>
            <a:r>
              <a:rPr lang="en-US" altLang="en-US" dirty="0"/>
              <a:t> </a:t>
            </a:r>
            <a:r>
              <a:rPr lang="en-US" altLang="en-US" dirty="0" err="1"/>
              <a:t>mitra</a:t>
            </a:r>
            <a:r>
              <a:rPr lang="en-US" altLang="en-US" dirty="0"/>
              <a:t>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mengelola</a:t>
            </a:r>
            <a:r>
              <a:rPr lang="en-US" altLang="en-US" dirty="0"/>
              <a:t> </a:t>
            </a:r>
            <a:r>
              <a:rPr lang="en-US" altLang="en-US" dirty="0" err="1"/>
              <a:t>jadwal</a:t>
            </a:r>
            <a:r>
              <a:rPr lang="en-US" altLang="en-US" dirty="0"/>
              <a:t>, </a:t>
            </a:r>
            <a:r>
              <a:rPr lang="en-US" altLang="en-US" dirty="0" err="1"/>
              <a:t>pelanggan</a:t>
            </a:r>
            <a:r>
              <a:rPr lang="en-US" altLang="en-US" dirty="0"/>
              <a:t>, dan </a:t>
            </a:r>
            <a:r>
              <a:rPr lang="en-US" altLang="en-US" dirty="0" err="1"/>
              <a:t>laporan</a:t>
            </a:r>
            <a:r>
              <a:rPr lang="en-US" altLang="en-US" dirty="0"/>
              <a:t> </a:t>
            </a:r>
            <a:r>
              <a:rPr lang="en-US" altLang="en-US" dirty="0" err="1"/>
              <a:t>keuangan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/>
              <a:t>efisien</a:t>
            </a:r>
            <a:r>
              <a:rPr lang="en-US" altLang="en-US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dirty="0" err="1"/>
              <a:t>Menyediakan</a:t>
            </a:r>
            <a:r>
              <a:rPr lang="en-US" altLang="en-US" dirty="0"/>
              <a:t> </a:t>
            </a:r>
            <a:r>
              <a:rPr lang="en-US" altLang="en-US" dirty="0" err="1"/>
              <a:t>sistem</a:t>
            </a:r>
            <a:r>
              <a:rPr lang="en-US" altLang="en-US" dirty="0"/>
              <a:t> yang </a:t>
            </a:r>
            <a:r>
              <a:rPr lang="en-US" altLang="en-US" dirty="0" err="1"/>
              <a:t>cepat</a:t>
            </a:r>
            <a:r>
              <a:rPr lang="en-US" altLang="en-US" dirty="0"/>
              <a:t>, </a:t>
            </a:r>
            <a:r>
              <a:rPr lang="en-US" altLang="en-US" dirty="0" err="1"/>
              <a:t>transparan</a:t>
            </a:r>
            <a:r>
              <a:rPr lang="en-US" altLang="en-US" dirty="0"/>
              <a:t>, dan </a:t>
            </a:r>
            <a:r>
              <a:rPr lang="en-US" altLang="en-US" dirty="0" err="1"/>
              <a:t>mudah</a:t>
            </a:r>
            <a:r>
              <a:rPr lang="en-US" altLang="en-US" dirty="0"/>
              <a:t> </a:t>
            </a:r>
            <a:r>
              <a:rPr lang="en-US" altLang="en-US" dirty="0" err="1"/>
              <a:t>digunakan</a:t>
            </a:r>
            <a:r>
              <a:rPr lang="en-US" altLang="en-US" dirty="0"/>
              <a:t> </a:t>
            </a:r>
            <a:r>
              <a:rPr lang="en-US" altLang="en-US" dirty="0" err="1"/>
              <a:t>baik</a:t>
            </a:r>
            <a:r>
              <a:rPr lang="en-US" altLang="en-US" dirty="0"/>
              <a:t> </a:t>
            </a:r>
            <a:r>
              <a:rPr lang="en-US" altLang="en-US" dirty="0" err="1"/>
              <a:t>bagi</a:t>
            </a:r>
            <a:r>
              <a:rPr lang="en-US" altLang="en-US" dirty="0"/>
              <a:t> </a:t>
            </a:r>
            <a:r>
              <a:rPr lang="en-US" altLang="en-US" dirty="0" err="1"/>
              <a:t>pelanggan</a:t>
            </a:r>
            <a:r>
              <a:rPr lang="en-US" altLang="en-US" dirty="0"/>
              <a:t> </a:t>
            </a:r>
            <a:r>
              <a:rPr lang="en-US" altLang="en-US" dirty="0" err="1"/>
              <a:t>maupun</a:t>
            </a:r>
            <a:r>
              <a:rPr lang="en-US" altLang="en-US" dirty="0"/>
              <a:t> </a:t>
            </a:r>
            <a:r>
              <a:rPr lang="en-US" altLang="en-US" dirty="0" err="1"/>
              <a:t>pihak</a:t>
            </a:r>
            <a:r>
              <a:rPr lang="en-US" altLang="en-US" dirty="0"/>
              <a:t> </a:t>
            </a:r>
            <a:r>
              <a:rPr lang="en-US" altLang="en-US" dirty="0" err="1"/>
              <a:t>bengkel</a:t>
            </a:r>
            <a:r>
              <a:rPr lang="en-US" altLang="en-US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dirty="0" err="1"/>
              <a:t>Mendukung</a:t>
            </a:r>
            <a:r>
              <a:rPr lang="en-US" altLang="en-US" dirty="0"/>
              <a:t> </a:t>
            </a:r>
            <a:r>
              <a:rPr lang="en-US" altLang="en-US" dirty="0" err="1"/>
              <a:t>digitalisasi</a:t>
            </a:r>
            <a:r>
              <a:rPr lang="en-US" altLang="en-US" dirty="0"/>
              <a:t> </a:t>
            </a:r>
            <a:r>
              <a:rPr lang="en-US" altLang="en-US" dirty="0" err="1"/>
              <a:t>layanan</a:t>
            </a:r>
            <a:r>
              <a:rPr lang="en-US" altLang="en-US" dirty="0"/>
              <a:t> </a:t>
            </a:r>
            <a:r>
              <a:rPr lang="en-US" altLang="en-US" dirty="0" err="1"/>
              <a:t>otomotif</a:t>
            </a:r>
            <a:r>
              <a:rPr lang="en-US" altLang="en-US" dirty="0"/>
              <a:t> </a:t>
            </a:r>
            <a:r>
              <a:rPr lang="en-US" altLang="en-US" dirty="0" err="1"/>
              <a:t>menuju</a:t>
            </a:r>
            <a:r>
              <a:rPr lang="en-US" altLang="en-US" dirty="0"/>
              <a:t> </a:t>
            </a:r>
            <a:r>
              <a:rPr lang="en-US" altLang="en-US" dirty="0" err="1"/>
              <a:t>pelayanan</a:t>
            </a:r>
            <a:r>
              <a:rPr lang="en-US" altLang="en-US" dirty="0"/>
              <a:t> </a:t>
            </a:r>
            <a:r>
              <a:rPr lang="en-US" altLang="en-US" dirty="0" err="1"/>
              <a:t>berbasis</a:t>
            </a:r>
            <a:r>
              <a:rPr lang="en-US" altLang="en-US" dirty="0"/>
              <a:t> web yang modern dan </a:t>
            </a:r>
            <a:r>
              <a:rPr lang="en-US" altLang="en-US" dirty="0" err="1"/>
              <a:t>responsif</a:t>
            </a:r>
            <a:r>
              <a:rPr lang="en-US" altLang="en-US" dirty="0"/>
              <a:t>.</a:t>
            </a:r>
          </a:p>
        </p:txBody>
      </p:sp>
      <p:sp>
        <p:nvSpPr>
          <p:cNvPr id="60" name="Google Shape;60;g25106c74611_2_0"/>
          <p:cNvSpPr txBox="1">
            <a:spLocks noGrp="1"/>
          </p:cNvSpPr>
          <p:nvPr>
            <p:ph type="body" idx="4"/>
          </p:nvPr>
        </p:nvSpPr>
        <p:spPr>
          <a:xfrm>
            <a:off x="5939001" y="1055432"/>
            <a:ext cx="1754400" cy="1530000"/>
          </a:xfrm>
          <a:prstGeom prst="rect">
            <a:avLst/>
          </a:prstGeom>
          <a:solidFill>
            <a:srgbClr val="F1F1F1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AutoNum type="arabicPeriod"/>
            </a:pPr>
            <a:r>
              <a:rPr lang="en-US" altLang="en-US" sz="700" dirty="0"/>
              <a:t>Self-service: </a:t>
            </a:r>
            <a:r>
              <a:rPr lang="en-US" altLang="en-US" sz="700" dirty="0" err="1"/>
              <a:t>Pelanggan</a:t>
            </a:r>
            <a:r>
              <a:rPr lang="en-US" altLang="en-US" sz="700" dirty="0"/>
              <a:t> </a:t>
            </a:r>
            <a:r>
              <a:rPr lang="en-US" altLang="en-US" sz="700" dirty="0" err="1"/>
              <a:t>dapat</a:t>
            </a:r>
            <a:r>
              <a:rPr lang="en-US" altLang="en-US" sz="700" dirty="0"/>
              <a:t> </a:t>
            </a:r>
            <a:r>
              <a:rPr lang="en-US" altLang="en-US" sz="700" dirty="0" err="1"/>
              <a:t>membuat</a:t>
            </a:r>
            <a:r>
              <a:rPr lang="en-US" altLang="en-US" sz="700" dirty="0"/>
              <a:t> </a:t>
            </a:r>
            <a:r>
              <a:rPr lang="en-US" altLang="en-US" sz="700" dirty="0" err="1"/>
              <a:t>akun</a:t>
            </a:r>
            <a:r>
              <a:rPr lang="en-US" altLang="en-US" sz="700" dirty="0"/>
              <a:t>, </a:t>
            </a:r>
            <a:r>
              <a:rPr lang="en-US" altLang="en-US" sz="700" dirty="0" err="1"/>
              <a:t>memesan</a:t>
            </a:r>
            <a:r>
              <a:rPr lang="en-US" altLang="en-US" sz="700" dirty="0"/>
              <a:t>, dan </a:t>
            </a:r>
            <a:r>
              <a:rPr lang="en-US" altLang="en-US" sz="700" dirty="0" err="1"/>
              <a:t>membayar</a:t>
            </a:r>
            <a:r>
              <a:rPr lang="en-US" altLang="en-US" sz="700" dirty="0"/>
              <a:t> </a:t>
            </a:r>
            <a:r>
              <a:rPr lang="en-US" altLang="en-US" sz="700" dirty="0" err="1"/>
              <a:t>secara</a:t>
            </a:r>
            <a:r>
              <a:rPr lang="en-US" altLang="en-US" sz="700" dirty="0"/>
              <a:t> </a:t>
            </a:r>
            <a:r>
              <a:rPr lang="en-US" altLang="en-US" sz="700" dirty="0" err="1"/>
              <a:t>mandiri</a:t>
            </a:r>
            <a:r>
              <a:rPr lang="en-US" altLang="en-US" sz="700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sz="700" dirty="0"/>
              <a:t>Support system; </a:t>
            </a:r>
            <a:r>
              <a:rPr lang="en-US" altLang="en-US" sz="700" dirty="0" err="1"/>
              <a:t>Bantuan</a:t>
            </a:r>
            <a:r>
              <a:rPr lang="en-US" altLang="en-US" sz="700" dirty="0"/>
              <a:t> </a:t>
            </a:r>
            <a:r>
              <a:rPr lang="en-US" altLang="en-US" sz="700" dirty="0" err="1"/>
              <a:t>melalui</a:t>
            </a:r>
            <a:r>
              <a:rPr lang="en-US" altLang="en-US" sz="700" dirty="0"/>
              <a:t> WhatsApp </a:t>
            </a:r>
            <a:r>
              <a:rPr lang="en-US" altLang="en-US" sz="700" dirty="0" err="1"/>
              <a:t>atau</a:t>
            </a:r>
            <a:r>
              <a:rPr lang="en-US" altLang="en-US" sz="700" dirty="0"/>
              <a:t> Instagram </a:t>
            </a:r>
            <a:r>
              <a:rPr lang="en-US" altLang="en-US" sz="700" dirty="0" err="1"/>
              <a:t>untuk</a:t>
            </a:r>
            <a:r>
              <a:rPr lang="en-US" altLang="en-US" sz="700" dirty="0"/>
              <a:t> </a:t>
            </a:r>
            <a:r>
              <a:rPr lang="en-US" altLang="en-US" sz="700" dirty="0" err="1"/>
              <a:t>kendala</a:t>
            </a:r>
            <a:r>
              <a:rPr lang="en-US" altLang="en-US" sz="700" dirty="0"/>
              <a:t> </a:t>
            </a:r>
            <a:r>
              <a:rPr lang="en-US" altLang="en-US" sz="700" dirty="0" err="1"/>
              <a:t>akun</a:t>
            </a:r>
            <a:r>
              <a:rPr lang="en-US" altLang="en-US" sz="700" dirty="0"/>
              <a:t> dan </a:t>
            </a:r>
            <a:r>
              <a:rPr lang="en-US" altLang="en-US" sz="700" dirty="0" err="1"/>
              <a:t>reservasi</a:t>
            </a:r>
            <a:r>
              <a:rPr lang="en-US" altLang="en-US" sz="700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sz="700" dirty="0"/>
              <a:t>Customer engagement: </a:t>
            </a:r>
            <a:r>
              <a:rPr lang="en-US" altLang="en-US" sz="700" dirty="0" err="1"/>
              <a:t>Promosi</a:t>
            </a:r>
            <a:r>
              <a:rPr lang="en-US" altLang="en-US" sz="700" dirty="0"/>
              <a:t> dan reward </a:t>
            </a:r>
            <a:r>
              <a:rPr lang="en-US" altLang="en-US" sz="700" dirty="0" err="1"/>
              <a:t>untuk</a:t>
            </a:r>
            <a:r>
              <a:rPr lang="en-US" altLang="en-US" sz="700" dirty="0"/>
              <a:t> </a:t>
            </a:r>
            <a:r>
              <a:rPr lang="en-US" altLang="en-US" sz="700" dirty="0" err="1"/>
              <a:t>pelanggan</a:t>
            </a:r>
            <a:r>
              <a:rPr lang="en-US" altLang="en-US" sz="700" dirty="0"/>
              <a:t> </a:t>
            </a:r>
            <a:r>
              <a:rPr lang="en-US" altLang="en-US" sz="700" dirty="0" err="1"/>
              <a:t>setia</a:t>
            </a:r>
            <a:r>
              <a:rPr lang="en-US" altLang="en-US" sz="700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sz="700" dirty="0"/>
              <a:t>Feedback system: </a:t>
            </a:r>
            <a:r>
              <a:rPr lang="en-US" altLang="en-US" sz="700" dirty="0" err="1"/>
              <a:t>Pelanggan</a:t>
            </a:r>
            <a:r>
              <a:rPr lang="en-US" altLang="en-US" sz="700" dirty="0"/>
              <a:t> </a:t>
            </a:r>
            <a:r>
              <a:rPr lang="en-US" altLang="en-US" sz="700" dirty="0" err="1"/>
              <a:t>dapat</a:t>
            </a:r>
            <a:r>
              <a:rPr lang="en-US" altLang="en-US" sz="700" dirty="0"/>
              <a:t> </a:t>
            </a:r>
            <a:r>
              <a:rPr lang="en-US" altLang="en-US" sz="700" dirty="0" err="1"/>
              <a:t>memberi</a:t>
            </a:r>
            <a:r>
              <a:rPr lang="en-US" altLang="en-US" sz="700" dirty="0"/>
              <a:t> </a:t>
            </a:r>
            <a:r>
              <a:rPr lang="en-US" altLang="en-US" sz="700" dirty="0" err="1"/>
              <a:t>ulasan</a:t>
            </a:r>
            <a:r>
              <a:rPr lang="en-US" altLang="en-US" sz="700" dirty="0"/>
              <a:t> dan rating </a:t>
            </a:r>
            <a:r>
              <a:rPr lang="en-US" altLang="en-US" sz="700" dirty="0" err="1"/>
              <a:t>layanan</a:t>
            </a:r>
            <a:r>
              <a:rPr lang="en-US" altLang="en-US" sz="700" dirty="0"/>
              <a:t> </a:t>
            </a:r>
            <a:r>
              <a:rPr lang="en-US" altLang="en-US" sz="700" dirty="0" err="1"/>
              <a:t>bengkel</a:t>
            </a:r>
            <a:r>
              <a:rPr lang="en-US" altLang="en-US" sz="700" dirty="0"/>
              <a:t>.</a:t>
            </a:r>
          </a:p>
        </p:txBody>
      </p:sp>
      <p:sp>
        <p:nvSpPr>
          <p:cNvPr id="61" name="Google Shape;61;g25106c74611_2_0"/>
          <p:cNvSpPr txBox="1">
            <a:spLocks noGrp="1"/>
          </p:cNvSpPr>
          <p:nvPr>
            <p:ph type="body" idx="5"/>
          </p:nvPr>
        </p:nvSpPr>
        <p:spPr>
          <a:xfrm>
            <a:off x="7835806" y="1056066"/>
            <a:ext cx="1754400" cy="3439500"/>
          </a:xfrm>
          <a:prstGeom prst="rect">
            <a:avLst/>
          </a:prstGeom>
          <a:solidFill>
            <a:srgbClr val="C0E0A2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AutoNum type="arabicPeriod"/>
            </a:pPr>
            <a:r>
              <a:rPr lang="en-US" altLang="en-US" dirty="0"/>
              <a:t>Self-service: </a:t>
            </a:r>
            <a:r>
              <a:rPr lang="en-US" altLang="en-US" dirty="0" err="1"/>
              <a:t>Pelanggan</a:t>
            </a:r>
            <a:r>
              <a:rPr lang="en-US" altLang="en-US" dirty="0"/>
              <a:t>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membuat</a:t>
            </a:r>
            <a:r>
              <a:rPr lang="en-US" altLang="en-US" dirty="0"/>
              <a:t> </a:t>
            </a:r>
            <a:r>
              <a:rPr lang="en-US" altLang="en-US" dirty="0" err="1"/>
              <a:t>akun</a:t>
            </a:r>
            <a:r>
              <a:rPr lang="en-US" altLang="en-US" dirty="0"/>
              <a:t>, </a:t>
            </a:r>
            <a:r>
              <a:rPr lang="en-US" altLang="en-US" dirty="0" err="1"/>
              <a:t>memesan</a:t>
            </a:r>
            <a:r>
              <a:rPr lang="en-US" altLang="en-US" dirty="0"/>
              <a:t>, dan </a:t>
            </a:r>
            <a:r>
              <a:rPr lang="en-US" altLang="en-US" dirty="0" err="1"/>
              <a:t>membayar</a:t>
            </a:r>
            <a:r>
              <a:rPr lang="en-US" altLang="en-US" dirty="0"/>
              <a:t>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mandiri</a:t>
            </a:r>
            <a:r>
              <a:rPr lang="en-US" altLang="en-US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dirty="0"/>
              <a:t>Support system: </a:t>
            </a:r>
            <a:r>
              <a:rPr lang="en-US" altLang="en-US" dirty="0" err="1"/>
              <a:t>Bantuan</a:t>
            </a:r>
            <a:r>
              <a:rPr lang="en-US" altLang="en-US" dirty="0"/>
              <a:t> </a:t>
            </a:r>
            <a:r>
              <a:rPr lang="en-US" altLang="en-US" dirty="0" err="1"/>
              <a:t>melalui</a:t>
            </a:r>
            <a:r>
              <a:rPr lang="en-US" altLang="en-US" dirty="0"/>
              <a:t> WhatsApp </a:t>
            </a:r>
            <a:r>
              <a:rPr lang="en-US" altLang="en-US" dirty="0" err="1"/>
              <a:t>atau</a:t>
            </a:r>
            <a:r>
              <a:rPr lang="en-US" altLang="en-US" dirty="0"/>
              <a:t> Instagram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kendala</a:t>
            </a:r>
            <a:r>
              <a:rPr lang="en-US" altLang="en-US" dirty="0"/>
              <a:t> </a:t>
            </a:r>
            <a:r>
              <a:rPr lang="en-US" altLang="en-US" dirty="0" err="1"/>
              <a:t>akun</a:t>
            </a:r>
            <a:r>
              <a:rPr lang="en-US" altLang="en-US" dirty="0"/>
              <a:t> dan </a:t>
            </a:r>
            <a:r>
              <a:rPr lang="en-US" altLang="en-US" dirty="0" err="1"/>
              <a:t>reservasi</a:t>
            </a:r>
            <a:r>
              <a:rPr lang="en-US" altLang="en-US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dirty="0"/>
              <a:t>Customer engagement: </a:t>
            </a:r>
            <a:r>
              <a:rPr lang="en-US" altLang="en-US" dirty="0" err="1"/>
              <a:t>Promosi</a:t>
            </a:r>
            <a:r>
              <a:rPr lang="en-US" altLang="en-US" dirty="0"/>
              <a:t> dan reward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pelanggan</a:t>
            </a:r>
            <a:r>
              <a:rPr lang="en-US" altLang="en-US" dirty="0"/>
              <a:t> </a:t>
            </a:r>
            <a:r>
              <a:rPr lang="en-US" altLang="en-US" dirty="0" err="1"/>
              <a:t>setia</a:t>
            </a:r>
            <a:r>
              <a:rPr lang="en-US" altLang="en-US" dirty="0"/>
              <a:t>.</a:t>
            </a:r>
          </a:p>
          <a:p>
            <a:pPr marL="228600" lvl="0" algn="just">
              <a:buAutoNum type="arabicPeriod"/>
            </a:pPr>
            <a:r>
              <a:rPr lang="en-US" altLang="en-US" dirty="0"/>
              <a:t>Feedback system: </a:t>
            </a:r>
            <a:r>
              <a:rPr lang="en-US" altLang="en-US" dirty="0" err="1"/>
              <a:t>Pelanggan</a:t>
            </a:r>
            <a:r>
              <a:rPr lang="en-US" altLang="en-US" dirty="0"/>
              <a:t>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memberi</a:t>
            </a:r>
            <a:r>
              <a:rPr lang="en-US" altLang="en-US" dirty="0"/>
              <a:t> </a:t>
            </a:r>
            <a:r>
              <a:rPr lang="en-US" altLang="en-US" dirty="0" err="1"/>
              <a:t>ulasan</a:t>
            </a:r>
            <a:r>
              <a:rPr lang="en-US" altLang="en-US" dirty="0"/>
              <a:t> dan rating </a:t>
            </a:r>
            <a:r>
              <a:rPr lang="en-US" altLang="en-US" dirty="0" err="1"/>
              <a:t>layanan</a:t>
            </a:r>
            <a:r>
              <a:rPr lang="en-US" altLang="en-US" dirty="0"/>
              <a:t> </a:t>
            </a:r>
            <a:r>
              <a:rPr lang="en-US" altLang="en-US" dirty="0" err="1"/>
              <a:t>bengkel</a:t>
            </a:r>
            <a:r>
              <a:rPr lang="en-US" altLang="en-US" dirty="0"/>
              <a:t>.</a:t>
            </a:r>
          </a:p>
        </p:txBody>
      </p:sp>
      <p:sp>
        <p:nvSpPr>
          <p:cNvPr id="62" name="Google Shape;62;g25106c74611_2_0"/>
          <p:cNvSpPr txBox="1">
            <a:spLocks noGrp="1"/>
          </p:cNvSpPr>
          <p:nvPr>
            <p:ph type="body" idx="6"/>
          </p:nvPr>
        </p:nvSpPr>
        <p:spPr>
          <a:xfrm>
            <a:off x="2196704" y="2965800"/>
            <a:ext cx="1754400" cy="1530000"/>
          </a:xfrm>
          <a:prstGeom prst="rect">
            <a:avLst/>
          </a:prstGeom>
          <a:solidFill>
            <a:srgbClr val="FBD5F2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AutoNum type="arabicPeriod"/>
            </a:pPr>
            <a:r>
              <a:rPr lang="en-US" altLang="en-US" sz="800" dirty="0"/>
              <a:t>Tim </a:t>
            </a:r>
            <a:r>
              <a:rPr lang="en-US" altLang="en-US" sz="800" dirty="0" err="1"/>
              <a:t>pengembang</a:t>
            </a:r>
            <a:r>
              <a:rPr lang="en-US" altLang="en-US" sz="800" dirty="0"/>
              <a:t> website (frontend, backend, UI/UX)</a:t>
            </a:r>
          </a:p>
          <a:p>
            <a:pPr marL="228600" lvl="0" algn="just">
              <a:buAutoNum type="arabicPeriod"/>
            </a:pPr>
            <a:r>
              <a:rPr lang="en-US" altLang="en-US" sz="800" dirty="0"/>
              <a:t>Database </a:t>
            </a:r>
            <a:r>
              <a:rPr lang="en-US" altLang="en-US" sz="800" dirty="0" err="1"/>
              <a:t>pelanggan</a:t>
            </a:r>
            <a:r>
              <a:rPr lang="en-US" altLang="en-US" sz="800" dirty="0"/>
              <a:t> &amp; data </a:t>
            </a:r>
            <a:r>
              <a:rPr lang="en-US" altLang="en-US" sz="800" dirty="0" err="1"/>
              <a:t>bengkel</a:t>
            </a:r>
            <a:endParaRPr lang="en-US" altLang="en-US" sz="800" dirty="0"/>
          </a:p>
          <a:p>
            <a:pPr marL="228600" lvl="0" algn="just">
              <a:buAutoNum type="arabicPeriod"/>
            </a:pPr>
            <a:r>
              <a:rPr lang="en-US" altLang="en-US" sz="800" dirty="0"/>
              <a:t>Server cloud hosting </a:t>
            </a:r>
            <a:r>
              <a:rPr lang="en-US" altLang="en-US" sz="800" dirty="0" err="1"/>
              <a:t>untuk</a:t>
            </a:r>
            <a:r>
              <a:rPr lang="en-US" altLang="en-US" sz="800" dirty="0"/>
              <a:t> </a:t>
            </a:r>
            <a:r>
              <a:rPr lang="en-US" altLang="en-US" sz="800" dirty="0" err="1"/>
              <a:t>penyimpanan</a:t>
            </a:r>
            <a:r>
              <a:rPr lang="en-US" altLang="en-US" sz="800" dirty="0"/>
              <a:t> data</a:t>
            </a:r>
          </a:p>
          <a:p>
            <a:pPr marL="228600" lvl="0" algn="just">
              <a:buAutoNum type="arabicPeriod"/>
            </a:pPr>
            <a:r>
              <a:rPr lang="en-US" altLang="en-US" sz="800" dirty="0"/>
              <a:t>Tim </a:t>
            </a:r>
            <a:r>
              <a:rPr lang="en-US" altLang="en-US" sz="800" dirty="0" err="1"/>
              <a:t>administrasi</a:t>
            </a:r>
            <a:r>
              <a:rPr lang="en-US" altLang="en-US" sz="800" dirty="0"/>
              <a:t> &amp; customer service</a:t>
            </a:r>
          </a:p>
          <a:p>
            <a:pPr marL="228600" lvl="0" algn="just">
              <a:buAutoNum type="arabicPeriod"/>
            </a:pPr>
            <a:r>
              <a:rPr lang="en-US" altLang="en-US" sz="800" dirty="0" err="1"/>
              <a:t>Sistem</a:t>
            </a:r>
            <a:r>
              <a:rPr lang="en-US" altLang="en-US" sz="800" dirty="0"/>
              <a:t> </a:t>
            </a:r>
            <a:r>
              <a:rPr lang="en-US" altLang="en-US" sz="800" dirty="0" err="1"/>
              <a:t>keamanan</a:t>
            </a:r>
            <a:r>
              <a:rPr lang="en-US" altLang="en-US" sz="800" dirty="0"/>
              <a:t> data &amp; </a:t>
            </a:r>
            <a:r>
              <a:rPr lang="en-US" altLang="en-US" sz="800" dirty="0" err="1"/>
              <a:t>autentikasi</a:t>
            </a:r>
            <a:r>
              <a:rPr lang="en-US" altLang="en-US" sz="800" dirty="0"/>
              <a:t> </a:t>
            </a:r>
            <a:r>
              <a:rPr lang="en-US" altLang="en-US" sz="800" dirty="0" err="1"/>
              <a:t>pengguna</a:t>
            </a:r>
            <a:endParaRPr lang="en-US" altLang="en-US" sz="800" dirty="0"/>
          </a:p>
        </p:txBody>
      </p:sp>
      <p:sp>
        <p:nvSpPr>
          <p:cNvPr id="63" name="Google Shape;63;g25106c74611_2_0"/>
          <p:cNvSpPr txBox="1">
            <a:spLocks noGrp="1"/>
          </p:cNvSpPr>
          <p:nvPr>
            <p:ph type="body" idx="7"/>
          </p:nvPr>
        </p:nvSpPr>
        <p:spPr>
          <a:xfrm>
            <a:off x="5952078" y="2965800"/>
            <a:ext cx="1754400" cy="1530000"/>
          </a:xfrm>
          <a:prstGeom prst="rect">
            <a:avLst/>
          </a:prstGeom>
          <a:solidFill>
            <a:srgbClr val="FBD5F2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AutoNum type="arabicPeriod"/>
            </a:pPr>
            <a:r>
              <a:rPr lang="en-US" dirty="0"/>
              <a:t>Website </a:t>
            </a:r>
            <a:r>
              <a:rPr lang="en-US" dirty="0" err="1"/>
              <a:t>resmi</a:t>
            </a:r>
            <a:r>
              <a:rPr lang="en-US" dirty="0"/>
              <a:t> “Berkah </a:t>
            </a:r>
            <a:r>
              <a:rPr lang="en-US" dirty="0" err="1"/>
              <a:t>Bengkel</a:t>
            </a:r>
            <a:r>
              <a:rPr lang="en-US" dirty="0"/>
              <a:t> Motor”</a:t>
            </a:r>
          </a:p>
          <a:p>
            <a:pPr marL="228600" lvl="0" algn="just">
              <a:buAutoNum type="arabicPeriod"/>
            </a:pPr>
            <a:r>
              <a:rPr lang="en-US" dirty="0"/>
              <a:t>Media </a:t>
            </a:r>
            <a:r>
              <a:rPr lang="en-US" dirty="0" err="1"/>
              <a:t>sosial</a:t>
            </a:r>
            <a:r>
              <a:rPr lang="en-US" dirty="0"/>
              <a:t> (Instagram, WhatsApp Business)</a:t>
            </a:r>
          </a:p>
          <a:p>
            <a:pPr marL="228600" lvl="0" algn="just">
              <a:buAutoNum type="arabicPeriod"/>
            </a:pPr>
            <a:r>
              <a:rPr lang="en-US" dirty="0" err="1"/>
              <a:t>Kampanye</a:t>
            </a:r>
            <a:r>
              <a:rPr lang="en-US" dirty="0"/>
              <a:t> digital &amp; </a:t>
            </a:r>
            <a:r>
              <a:rPr lang="en-US" dirty="0" err="1"/>
              <a:t>iklan</a:t>
            </a:r>
            <a:r>
              <a:rPr lang="en-US" dirty="0"/>
              <a:t> online</a:t>
            </a:r>
          </a:p>
          <a:p>
            <a:pPr marL="228600" lvl="0" algn="just">
              <a:buAutoNum type="arabicPeriod"/>
            </a:pPr>
            <a:r>
              <a:rPr lang="en-US" dirty="0"/>
              <a:t>Kerjasama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bengkel</a:t>
            </a:r>
            <a:r>
              <a:rPr lang="en-US" dirty="0"/>
              <a:t> </a:t>
            </a:r>
            <a:r>
              <a:rPr lang="en-US" dirty="0" err="1"/>
              <a:t>mitra</a:t>
            </a:r>
            <a:endParaRPr lang="en-US" dirty="0"/>
          </a:p>
        </p:txBody>
      </p:sp>
      <p:sp>
        <p:nvSpPr>
          <p:cNvPr id="64" name="Google Shape;64;g25106c74611_2_0"/>
          <p:cNvSpPr txBox="1">
            <a:spLocks noGrp="1"/>
          </p:cNvSpPr>
          <p:nvPr>
            <p:ph type="body" idx="8"/>
          </p:nvPr>
        </p:nvSpPr>
        <p:spPr>
          <a:xfrm>
            <a:off x="309424" y="4876800"/>
            <a:ext cx="4560900" cy="1447800"/>
          </a:xfrm>
          <a:prstGeom prst="rect">
            <a:avLst/>
          </a:prstGeom>
          <a:solidFill>
            <a:srgbClr val="F9CB9C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>
              <a:buAutoNum type="arabicPeriod"/>
            </a:pPr>
            <a:r>
              <a:rPr lang="en-US" dirty="0" err="1"/>
              <a:t>Biaya</a:t>
            </a:r>
            <a:r>
              <a:rPr lang="en-US" dirty="0"/>
              <a:t> domain, hosting, dan server cloud</a:t>
            </a:r>
          </a:p>
          <a:p>
            <a:pPr marL="228600" lvl="0">
              <a:buAutoNum type="arabicPeriod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dan </a:t>
            </a:r>
            <a:r>
              <a:rPr lang="en-US" dirty="0" err="1"/>
              <a:t>pemeliharaan</a:t>
            </a:r>
            <a:r>
              <a:rPr lang="en-US" dirty="0"/>
              <a:t> system</a:t>
            </a:r>
          </a:p>
          <a:p>
            <a:pPr marL="228600" lvl="0">
              <a:buAutoNum type="arabicPeriod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promosi</a:t>
            </a:r>
            <a:r>
              <a:rPr lang="en-US" dirty="0"/>
              <a:t> dan </a:t>
            </a:r>
            <a:r>
              <a:rPr lang="en-US" dirty="0" err="1"/>
              <a:t>iklan</a:t>
            </a:r>
            <a:r>
              <a:rPr lang="en-US" dirty="0"/>
              <a:t> digital</a:t>
            </a:r>
          </a:p>
          <a:p>
            <a:pPr marL="228600" lvl="0">
              <a:buAutoNum type="arabicPeriod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gaji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developer dan admin</a:t>
            </a:r>
          </a:p>
          <a:p>
            <a:pPr marL="228600" lvl="0">
              <a:buAutoNum type="arabicPeriod"/>
            </a:pP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operasional</a:t>
            </a:r>
            <a:r>
              <a:rPr lang="en-US" dirty="0"/>
              <a:t> dan support </a:t>
            </a:r>
            <a:r>
              <a:rPr lang="en-US" dirty="0" err="1"/>
              <a:t>pelanggan</a:t>
            </a:r>
            <a:endParaRPr dirty="0"/>
          </a:p>
        </p:txBody>
      </p:sp>
      <p:sp>
        <p:nvSpPr>
          <p:cNvPr id="65" name="Google Shape;65;g25106c74611_2_0"/>
          <p:cNvSpPr txBox="1">
            <a:spLocks noGrp="1"/>
          </p:cNvSpPr>
          <p:nvPr>
            <p:ph type="body" idx="9"/>
          </p:nvPr>
        </p:nvSpPr>
        <p:spPr>
          <a:xfrm>
            <a:off x="5056350" y="4876800"/>
            <a:ext cx="4533900" cy="1447800"/>
          </a:xfrm>
          <a:prstGeom prst="rect">
            <a:avLst/>
          </a:prstGeom>
          <a:solidFill>
            <a:srgbClr val="AEE4F6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algn="just">
              <a:buAutoNum type="arabicPeriod"/>
            </a:pPr>
            <a:r>
              <a:rPr lang="id-ID" altLang="en-US" dirty="0"/>
              <a:t>Komisi dari setiap transaksi reservasi bengkel mitra</a:t>
            </a:r>
            <a:endParaRPr lang="en-US" altLang="en-US" dirty="0"/>
          </a:p>
          <a:p>
            <a:pPr marL="228600" lvl="0" algn="just">
              <a:buAutoNum type="arabicPeriod"/>
            </a:pPr>
            <a:r>
              <a:rPr lang="id-ID" altLang="en-US" dirty="0"/>
              <a:t>Langganan premium untuk bengkel yang ingin fitur tambahan (laporan, statistik, promosi)</a:t>
            </a:r>
            <a:endParaRPr lang="en-US" altLang="en-US" dirty="0"/>
          </a:p>
          <a:p>
            <a:pPr marL="228600" lvl="0" algn="just">
              <a:buAutoNum type="arabicPeriod"/>
            </a:pPr>
            <a:r>
              <a:rPr lang="id-ID" altLang="en-US" dirty="0"/>
              <a:t>Iklan dan promosi dari produk otomotif</a:t>
            </a:r>
            <a:endParaRPr lang="en-US" altLang="en-US" dirty="0"/>
          </a:p>
          <a:p>
            <a:pPr marL="228600" lvl="0" algn="just">
              <a:buAutoNum type="arabicPeriod"/>
            </a:pPr>
            <a:r>
              <a:rPr lang="id-ID" altLang="en-US" dirty="0" err="1"/>
              <a:t>Kerjasama</a:t>
            </a:r>
            <a:r>
              <a:rPr lang="id-ID" altLang="en-US" dirty="0"/>
              <a:t> dengan vendor </a:t>
            </a:r>
            <a:r>
              <a:rPr lang="id-ID" altLang="en-US" dirty="0" err="1"/>
              <a:t>sparepart</a:t>
            </a:r>
            <a:r>
              <a:rPr lang="id-ID" altLang="en-US" dirty="0"/>
              <a:t> dan penyedia pembayaran digital</a:t>
            </a:r>
            <a:endParaRPr lang="en-US" altLang="en-US" dirty="0"/>
          </a:p>
          <a:p>
            <a:pPr marL="228600" lvl="0" algn="just">
              <a:buAutoNum type="arabicPeriod"/>
            </a:pPr>
            <a:r>
              <a:rPr lang="id-ID" altLang="en-US" dirty="0"/>
              <a:t>Penjualan data statistik (non-personal) untuk riset pasar otomotif</a:t>
            </a:r>
            <a:endParaRPr lang="en-US" altLang="en-US" dirty="0"/>
          </a:p>
        </p:txBody>
      </p:sp>
      <p:sp>
        <p:nvSpPr>
          <p:cNvPr id="66" name="Google Shape;66;g25106c74611_2_0"/>
          <p:cNvSpPr txBox="1">
            <a:spLocks noGrp="1"/>
          </p:cNvSpPr>
          <p:nvPr>
            <p:ph type="body" idx="13"/>
          </p:nvPr>
        </p:nvSpPr>
        <p:spPr>
          <a:xfrm>
            <a:off x="3962400" y="381000"/>
            <a:ext cx="1403400" cy="22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en-GB" dirty="0"/>
              <a:t>KSU </a:t>
            </a:r>
            <a:r>
              <a:rPr lang="en-GB" dirty="0" err="1"/>
              <a:t>Bahari</a:t>
            </a:r>
            <a:r>
              <a:rPr lang="en-GB" dirty="0"/>
              <a:t> </a:t>
            </a:r>
            <a:r>
              <a:rPr lang="en-GB" dirty="0" err="1"/>
              <a:t>Pratama</a:t>
            </a:r>
            <a:r>
              <a:rPr lang="en-GB" dirty="0"/>
              <a:t>, </a:t>
            </a:r>
            <a:r>
              <a:rPr lang="en-GB" dirty="0" err="1"/>
              <a:t>Brebes</a:t>
            </a:r>
            <a:endParaRPr dirty="0"/>
          </a:p>
        </p:txBody>
      </p:sp>
      <p:sp>
        <p:nvSpPr>
          <p:cNvPr id="67" name="Google Shape;67;g25106c74611_2_0"/>
          <p:cNvSpPr txBox="1">
            <a:spLocks noGrp="1"/>
          </p:cNvSpPr>
          <p:nvPr>
            <p:ph type="body" idx="14"/>
          </p:nvPr>
        </p:nvSpPr>
        <p:spPr>
          <a:xfrm>
            <a:off x="5685155" y="381000"/>
            <a:ext cx="1670050" cy="22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en-US" dirty="0"/>
              <a:t>Nama </a:t>
            </a:r>
            <a:r>
              <a:rPr lang="en-US"/>
              <a:t>Kamu</a:t>
            </a:r>
            <a:endParaRPr lang="id-ID" dirty="0"/>
          </a:p>
        </p:txBody>
      </p:sp>
      <p:sp>
        <p:nvSpPr>
          <p:cNvPr id="68" name="Google Shape;68;g25106c74611_2_0"/>
          <p:cNvSpPr txBox="1">
            <a:spLocks noGrp="1"/>
          </p:cNvSpPr>
          <p:nvPr>
            <p:ph type="body" idx="15"/>
          </p:nvPr>
        </p:nvSpPr>
        <p:spPr>
          <a:xfrm>
            <a:off x="7759700" y="381000"/>
            <a:ext cx="1155600" cy="22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en-US" dirty="0"/>
              <a:t>0</a:t>
            </a:r>
            <a:r>
              <a:rPr lang="id-ID" altLang="en-US" dirty="0"/>
              <a:t>8 sep </a:t>
            </a:r>
            <a:r>
              <a:rPr lang="en-US"/>
              <a:t>2025</a:t>
            </a:r>
            <a:endParaRPr dirty="0"/>
          </a:p>
        </p:txBody>
      </p:sp>
      <p:sp>
        <p:nvSpPr>
          <p:cNvPr id="69" name="Google Shape;69;g25106c74611_2_0"/>
          <p:cNvSpPr txBox="1">
            <a:spLocks noGrp="1"/>
          </p:cNvSpPr>
          <p:nvPr>
            <p:ph type="body" idx="16"/>
          </p:nvPr>
        </p:nvSpPr>
        <p:spPr>
          <a:xfrm>
            <a:off x="9245600" y="381000"/>
            <a:ext cx="412800" cy="22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80"/>
              </a:spcBef>
              <a:spcAft>
                <a:spcPts val="0"/>
              </a:spcAft>
              <a:buNone/>
            </a:pPr>
            <a:r>
              <a:rPr lang="en-US" dirty="0"/>
              <a:t>v1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os Chronos">
      <a:dk1>
        <a:srgbClr val="444444"/>
      </a:dk1>
      <a:lt1>
        <a:srgbClr val="FFFFFF"/>
      </a:lt1>
      <a:dk2>
        <a:srgbClr val="222222"/>
      </a:dk2>
      <a:lt2>
        <a:srgbClr val="F3F3F3"/>
      </a:lt2>
      <a:accent1>
        <a:srgbClr val="669933"/>
      </a:accent1>
      <a:accent2>
        <a:srgbClr val="38BEEA"/>
      </a:accent2>
      <a:accent3>
        <a:srgbClr val="EA38C0"/>
      </a:accent3>
      <a:accent4>
        <a:srgbClr val="EABB38"/>
      </a:accent4>
      <a:accent5>
        <a:srgbClr val="788C92"/>
      </a:accent5>
      <a:accent6>
        <a:srgbClr val="EA6238"/>
      </a:accent6>
      <a:hlink>
        <a:srgbClr val="787828"/>
      </a:hlink>
      <a:folHlink>
        <a:srgbClr val="9AA2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400</Words>
  <Application>Microsoft Office PowerPoint</Application>
  <PresentationFormat>Kertas A4 (210x297 mm)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Papanikolaou</dc:creator>
  <cp:lastModifiedBy>M. Yusuf Adnan</cp:lastModifiedBy>
  <cp:revision>37</cp:revision>
  <dcterms:created xsi:type="dcterms:W3CDTF">2019-04-01T16:49:00Z</dcterms:created>
  <dcterms:modified xsi:type="dcterms:W3CDTF">2025-11-03T04:16:25Z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B4003F5906354A809350577F11F45F6E_13</vt:lpwstr>
  </property>
  <property fmtid="{D5CDD505-2E9C-101B-9397-08002B2CF9AE}" pid="3" name="KSOProductBuildVer">
    <vt:lpwstr>1033-12.2.0.22549</vt:lpwstr>
  </property>
</Properties>
</file>